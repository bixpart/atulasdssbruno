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9144000"/>
  <p:notesSz cx="6858000" cy="9144000"/>
  <p:embeddedFontLst>
    <p:embeddedFont>
      <p:font typeface="Century Gothic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CenturyGothic-bold.fntdata"/><Relationship Id="rId14" Type="http://schemas.openxmlformats.org/officeDocument/2006/relationships/font" Target="fonts/CenturyGothic-regular.fntdata"/><Relationship Id="rId17" Type="http://schemas.openxmlformats.org/officeDocument/2006/relationships/font" Target="fonts/CenturyGothic-boldItalic.fntdata"/><Relationship Id="rId16" Type="http://schemas.openxmlformats.org/officeDocument/2006/relationships/font" Target="fonts/CenturyGothic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7a97950f92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" name="Google Shape;58;g37a97950f92_0_0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7a97950f92_0_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g37a97950f9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c9c02f924_0_0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c9c02f9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a9ab9e55e0_0_4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a9ab9e55e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a9ab9e55e0_0_13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a9ab9e55e0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9ab9e55e0_0_22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9ab9e55e0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6d063b74b3_0_6:notes"/>
          <p:cNvSpPr/>
          <p:nvPr>
            <p:ph idx="2" type="sldImg"/>
          </p:nvPr>
        </p:nvSpPr>
        <p:spPr>
          <a:xfrm>
            <a:off x="114330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6d063b74b3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992767"/>
            <a:ext cx="8520600" cy="273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3778833"/>
            <a:ext cx="8520600" cy="10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867800"/>
            <a:ext cx="8520600" cy="11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536633"/>
            <a:ext cx="39999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740800"/>
            <a:ext cx="2808000" cy="100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852800"/>
            <a:ext cx="2808000" cy="423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600200"/>
            <a:ext cx="6367800" cy="545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67"/>
            <a:ext cx="4572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644233"/>
            <a:ext cx="4045200" cy="1976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3737433"/>
            <a:ext cx="4045200" cy="16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965433"/>
            <a:ext cx="3837000" cy="492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5640767"/>
            <a:ext cx="5998800" cy="80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474833"/>
            <a:ext cx="8520600" cy="261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4202967"/>
            <a:ext cx="8520600" cy="173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 e Nome palestrante">
  <p:cSld name="Slide de título e Nome palestrante">
    <p:bg>
      <p:bgPr>
        <a:solidFill>
          <a:srgbClr val="00774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4132"/>
            <a:ext cx="9144000" cy="5137301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3"/>
          <p:cNvSpPr/>
          <p:nvPr/>
        </p:nvSpPr>
        <p:spPr>
          <a:xfrm>
            <a:off x="0" y="4953000"/>
            <a:ext cx="9144000" cy="1905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3" name="Google Shape;53;p13"/>
          <p:cNvSpPr txBox="1"/>
          <p:nvPr>
            <p:ph type="title"/>
          </p:nvPr>
        </p:nvSpPr>
        <p:spPr>
          <a:xfrm>
            <a:off x="628650" y="882649"/>
            <a:ext cx="50784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628650" y="2954337"/>
            <a:ext cx="56112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lvl="1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  <a:defRPr b="0" i="0" sz="15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lvl="2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lvl="3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lvl="4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lvl="5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lvl="6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lvl="7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lvl="8" marR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/>
        </p:txBody>
      </p:sp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118" y="5665508"/>
            <a:ext cx="1284529" cy="4524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593367"/>
            <a:ext cx="85206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6217622"/>
            <a:ext cx="548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7.png"/><Relationship Id="rId7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authmiddleware.js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628650" y="1339809"/>
            <a:ext cx="78867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Century Gothic"/>
              <a:buNone/>
            </a:pPr>
            <a:r>
              <a:rPr lang="pt-BR" sz="4900"/>
              <a:t>Node 13</a:t>
            </a:r>
            <a:endParaRPr sz="4900"/>
          </a:p>
        </p:txBody>
      </p:sp>
      <p:sp>
        <p:nvSpPr>
          <p:cNvPr id="61" name="Google Shape;61;p14"/>
          <p:cNvSpPr txBox="1"/>
          <p:nvPr>
            <p:ph idx="1" type="subTitle"/>
          </p:nvPr>
        </p:nvSpPr>
        <p:spPr>
          <a:xfrm>
            <a:off x="2880525" y="3828650"/>
            <a:ext cx="6151800" cy="123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300"/>
              <a:buFont typeface="Arial"/>
              <a:buNone/>
            </a:pPr>
            <a:r>
              <a:rPr lang="pt-BR" sz="1900"/>
              <a:t>Professor Bruno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/>
        </p:nvSpPr>
        <p:spPr>
          <a:xfrm>
            <a:off x="0" y="168775"/>
            <a:ext cx="9144000" cy="6237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47625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BR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Bloco 03 — Autenticação e Segurança</a:t>
            </a:r>
            <a:endParaRPr b="1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pt-BR" sz="2000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Aula 13 — JWT e Middleware de Autorização</a:t>
            </a:r>
            <a:endParaRPr b="1" sz="2000">
              <a:solidFill>
                <a:schemeClr val="lt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1256663" y="4181650"/>
            <a:ext cx="6185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22894" y="1302600"/>
            <a:ext cx="5961300" cy="19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b="1" lang="pt-BR" sz="3000"/>
              <a:t>OBJETIVO</a:t>
            </a:r>
            <a:endParaRPr b="1" i="0" sz="3000" u="none" cap="none" strike="noStrike">
              <a:solidFill>
                <a:srgbClr val="000000"/>
              </a:solidFill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b="1" lang="pt-BR" sz="3000"/>
              <a:t>TEORIA</a:t>
            </a:r>
            <a:endParaRPr b="1" i="0" sz="3000" u="none" cap="none" strike="noStrike">
              <a:solidFill>
                <a:srgbClr val="000000"/>
              </a:solidFill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b="1" lang="pt-BR" sz="3000"/>
              <a:t>PRÁTICA</a:t>
            </a:r>
            <a:endParaRPr b="1" i="0" sz="3000" u="none" cap="none" strike="noStrike">
              <a:solidFill>
                <a:srgbClr val="000000"/>
              </a:solidFill>
            </a:endParaRPr>
          </a:p>
          <a:p>
            <a:pPr indent="-3556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Char char="●"/>
            </a:pPr>
            <a:r>
              <a:rPr b="1" lang="pt-BR" sz="3000"/>
              <a:t>EXERCICIO</a:t>
            </a:r>
            <a:endParaRPr b="1" i="0" sz="30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149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/>
              <a:t>OBJETIVOS</a:t>
            </a:r>
            <a:endParaRPr b="1" sz="40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0" y="913467"/>
            <a:ext cx="91440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000">
                <a:solidFill>
                  <a:schemeClr val="dk1"/>
                </a:solidFill>
              </a:rPr>
              <a:t>Implementar autenticação JWT em rotas protegidas.</a:t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000">
                <a:solidFill>
                  <a:schemeClr val="dk1"/>
                </a:solidFill>
              </a:rPr>
              <a:t>Criar e aplicar middleware para verificar tokens.</a:t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3000">
                <a:solidFill>
                  <a:schemeClr val="dk1"/>
                </a:solidFill>
              </a:rPr>
              <a:t>Testar acesso autorizado e não autorizado.</a:t>
            </a:r>
            <a:endParaRPr b="1" sz="30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3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149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/>
              <a:t>Teoria</a:t>
            </a:r>
            <a:endParaRPr b="1" sz="400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0" y="1219067"/>
            <a:ext cx="91440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Middleware de Autorização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Middleware é uma função que roda antes do endpoint.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pt-BR" sz="2000">
                <a:solidFill>
                  <a:schemeClr val="dk1"/>
                </a:solidFill>
              </a:rPr>
              <a:t>Objetivo do middleware: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Ler o token do header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Validar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Liberar ou bloquear o acesso à rota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5867"/>
            <a:ext cx="7939" cy="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39" y="1065867"/>
            <a:ext cx="7911" cy="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311700" y="149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/>
              <a:t>Teoria</a:t>
            </a:r>
            <a:endParaRPr b="1" sz="4000"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0" y="1219067"/>
            <a:ext cx="91440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5867"/>
            <a:ext cx="7939" cy="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39" y="1065867"/>
            <a:ext cx="7911" cy="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85725" y="1065875"/>
            <a:ext cx="6122775" cy="564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149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/>
              <a:t>Teoria</a:t>
            </a:r>
            <a:endParaRPr b="1" sz="4000"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0" y="1219067"/>
            <a:ext cx="91440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MIddleware em rotas especificas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5867"/>
            <a:ext cx="7939" cy="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39" y="1065867"/>
            <a:ext cx="7911" cy="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62825" y="2034578"/>
            <a:ext cx="6618350" cy="443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149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/>
              <a:t>Teoria</a:t>
            </a:r>
            <a:endParaRPr b="1" sz="4000"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0" y="1219067"/>
            <a:ext cx="91440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Protegendo algumas rotas: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Rota publica ( sem middleware ):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b="1" lang="pt-BR" sz="2000">
                <a:solidFill>
                  <a:schemeClr val="dk1"/>
                </a:solidFill>
              </a:rPr>
              <a:t>Para proteger todas as rotas de um roteador de uma vez: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65867"/>
            <a:ext cx="7939" cy="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2739" y="1065867"/>
            <a:ext cx="7911" cy="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45900" y="1822675"/>
            <a:ext cx="6618950" cy="117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 rotWithShape="1">
          <a:blip r:embed="rId6">
            <a:alphaModFix/>
          </a:blip>
          <a:srcRect b="-176980" l="-26460" r="26460" t="176980"/>
          <a:stretch/>
        </p:blipFill>
        <p:spPr>
          <a:xfrm>
            <a:off x="152400" y="5400013"/>
            <a:ext cx="6376825" cy="869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755875" y="3816763"/>
            <a:ext cx="5599000" cy="76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708563" y="5278675"/>
            <a:ext cx="5693625" cy="495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311700" y="149967"/>
            <a:ext cx="8520600" cy="7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4000"/>
              <a:t>Prática</a:t>
            </a:r>
            <a:endParaRPr b="1" sz="4000"/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-41450" y="1219075"/>
            <a:ext cx="9185400" cy="455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b="1" lang="pt-BR" sz="2500">
                <a:solidFill>
                  <a:schemeClr val="dk1"/>
                </a:solidFill>
              </a:rPr>
              <a:t>Criar middleware: middleware/</a:t>
            </a:r>
            <a:r>
              <a:rPr b="1" lang="pt-BR" sz="2500" u="sng">
                <a:solidFill>
                  <a:schemeClr val="hlink"/>
                </a:solidFill>
                <a:hlinkClick r:id="rId3"/>
              </a:rPr>
              <a:t>authMiddleware.js</a:t>
            </a:r>
            <a:endParaRPr b="1"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pt-BR" sz="2500">
                <a:solidFill>
                  <a:schemeClr val="dk1"/>
                </a:solidFill>
              </a:rPr>
              <a:t>Proteja a rota /products</a:t>
            </a:r>
            <a:endParaRPr b="1" sz="25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500">
              <a:solidFill>
                <a:schemeClr val="dk1"/>
              </a:solidFill>
            </a:endParaRPr>
          </a:p>
          <a:p>
            <a:pPr indent="-3873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500"/>
              <a:buChar char="●"/>
            </a:pPr>
            <a:r>
              <a:rPr b="1" lang="pt-BR" sz="2500">
                <a:solidFill>
                  <a:schemeClr val="dk1"/>
                </a:solidFill>
              </a:rPr>
              <a:t>Teste no postman</a:t>
            </a:r>
            <a:endParaRPr b="1" sz="2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